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3"/>
  </p:notesMasterIdLst>
  <p:sldIdLst>
    <p:sldId id="258" r:id="rId2"/>
    <p:sldId id="282" r:id="rId3"/>
    <p:sldId id="260" r:id="rId4"/>
    <p:sldId id="262" r:id="rId5"/>
    <p:sldId id="261" r:id="rId6"/>
    <p:sldId id="263" r:id="rId7"/>
    <p:sldId id="264" r:id="rId8"/>
    <p:sldId id="283" r:id="rId9"/>
    <p:sldId id="284" r:id="rId10"/>
    <p:sldId id="265" r:id="rId11"/>
    <p:sldId id="28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3DD0DE-6CF1-4D10-9DC2-9B30B6E78149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A904D9-6144-4FCC-A592-DE311E4D65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013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F12A7-2F5F-D1B8-4586-61371C13D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36EAB0-14DA-3428-AD95-CC54D5D26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F0D9D8-B54C-332C-9165-A06916C0F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19A85-4175-02E6-92EE-F73F588865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A2114-3D9C-4AB6-B37B-6BAFC2E49FB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66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FA2114-3D9C-4AB6-B37B-6BAFC2E49F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50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5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058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34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9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524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5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25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103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133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89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0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438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2" r:id="rId6"/>
    <p:sldLayoutId id="2147483667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1374930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-eGpgwSGr14?feature=oembed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FC779D-5025-DDD4-AB04-7E4E77DE33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8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28AF8E-505A-E6B4-6D76-DF624C1042A8}"/>
              </a:ext>
            </a:extLst>
          </p:cNvPr>
          <p:cNvSpPr txBox="1"/>
          <p:nvPr/>
        </p:nvSpPr>
        <p:spPr>
          <a:xfrm>
            <a:off x="5342021" y="1260994"/>
            <a:ext cx="67520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Automated Logistics and Access Security Gate with Monitoring and Behavioral Analysis</a:t>
            </a:r>
            <a:endParaRPr lang="en-US" sz="3200" dirty="0">
              <a:solidFill>
                <a:srgbClr val="002060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49C7FB-7F95-0C4B-8768-C21C258E5F70}"/>
              </a:ext>
            </a:extLst>
          </p:cNvPr>
          <p:cNvCxnSpPr/>
          <p:nvPr/>
        </p:nvCxnSpPr>
        <p:spPr>
          <a:xfrm>
            <a:off x="6466114" y="2993572"/>
            <a:ext cx="4746172" cy="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3459BF6-25A1-B030-E8FA-B0DAD4413437}"/>
              </a:ext>
            </a:extLst>
          </p:cNvPr>
          <p:cNvSpPr txBox="1"/>
          <p:nvPr/>
        </p:nvSpPr>
        <p:spPr>
          <a:xfrm>
            <a:off x="6466114" y="2993572"/>
            <a:ext cx="52142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</a:rPr>
              <a:t>ISTE730 - Foundations of IoT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A3E6A3-7C4C-A03A-4A87-2B19374D1274}"/>
              </a:ext>
            </a:extLst>
          </p:cNvPr>
          <p:cNvSpPr txBox="1"/>
          <p:nvPr/>
        </p:nvSpPr>
        <p:spPr>
          <a:xfrm>
            <a:off x="8229602" y="4091638"/>
            <a:ext cx="373379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800" b="1" dirty="0">
                <a:solidFill>
                  <a:srgbClr val="002060"/>
                </a:solidFill>
              </a:rPr>
              <a:t>By,</a:t>
            </a:r>
          </a:p>
          <a:p>
            <a:pPr algn="r"/>
            <a:r>
              <a:rPr lang="en-US" sz="2800" b="1" dirty="0">
                <a:solidFill>
                  <a:srgbClr val="002060"/>
                </a:solidFill>
              </a:rPr>
              <a:t>Vetrivel Maheswaran</a:t>
            </a:r>
          </a:p>
          <a:p>
            <a:pPr algn="r"/>
            <a:r>
              <a:rPr lang="en-US" dirty="0">
                <a:solidFill>
                  <a:srgbClr val="002060"/>
                </a:solidFill>
              </a:rPr>
              <a:t>vm6923@rit.edu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797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93B6A-7AA9-3B5D-6630-B9A9F8F11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3FE91A2E-B69F-EAD6-FB45-D4FE084B7FF7}"/>
              </a:ext>
            </a:extLst>
          </p:cNvPr>
          <p:cNvSpPr txBox="1"/>
          <p:nvPr/>
        </p:nvSpPr>
        <p:spPr>
          <a:xfrm>
            <a:off x="598715" y="370506"/>
            <a:ext cx="74961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effectLst/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Problem</a:t>
            </a:r>
            <a:endParaRPr lang="en-US" sz="4000" dirty="0">
              <a:solidFill>
                <a:srgbClr val="002060"/>
              </a:solidFill>
              <a:latin typeface="+mj-lt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AC1296-7A92-E478-FBE2-E42C03463B4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806" y="724449"/>
            <a:ext cx="5691188" cy="56747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CA64DF-0DA3-7A6B-FDD4-3CC66CB19793}"/>
              </a:ext>
            </a:extLst>
          </p:cNvPr>
          <p:cNvSpPr txBox="1"/>
          <p:nvPr/>
        </p:nvSpPr>
        <p:spPr>
          <a:xfrm>
            <a:off x="2059386" y="1578935"/>
            <a:ext cx="8848100" cy="311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b="1" dirty="0"/>
              <a:t>Gates authenticate — but never monitor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b="1" dirty="0"/>
              <a:t>No audit trail, no behavioral visibility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b="1" dirty="0"/>
              <a:t>Suspicious patterns go undetected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b="1" dirty="0"/>
              <a:t>Enterprise solutions exist — but </a:t>
            </a:r>
            <a:r>
              <a:rPr lang="en-US" sz="2800" b="1" dirty="0"/>
              <a:t>remain largely inaccessible to small facilities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845503011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869AF0-0886-5DE9-260E-C3B14DDFF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9F0ADE73-9E38-D852-8738-6C1787AD5A82}"/>
              </a:ext>
            </a:extLst>
          </p:cNvPr>
          <p:cNvSpPr txBox="1"/>
          <p:nvPr/>
        </p:nvSpPr>
        <p:spPr>
          <a:xfrm>
            <a:off x="598715" y="370506"/>
            <a:ext cx="74961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effectLst/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Motivation &amp; Goal</a:t>
            </a:r>
            <a:endParaRPr lang="en-US" sz="4000" dirty="0">
              <a:solidFill>
                <a:srgbClr val="002060"/>
              </a:solidFill>
              <a:latin typeface="+mj-lt"/>
              <a:ea typeface="Cambria" panose="02040503050406030204" pitchFamily="18" charset="0"/>
            </a:endParaRPr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44EBAA6-C8D1-D382-23A7-28615BBC9878}"/>
              </a:ext>
            </a:extLst>
          </p:cNvPr>
          <p:cNvGrpSpPr/>
          <p:nvPr/>
        </p:nvGrpSpPr>
        <p:grpSpPr>
          <a:xfrm>
            <a:off x="1023257" y="1337176"/>
            <a:ext cx="10145485" cy="5030968"/>
            <a:chOff x="4497234" y="1535206"/>
            <a:chExt cx="7287784" cy="3602661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EE122C6-8F33-0244-6F6D-4803E17AD7E2}"/>
                </a:ext>
              </a:extLst>
            </p:cNvPr>
            <p:cNvGrpSpPr/>
            <p:nvPr/>
          </p:nvGrpSpPr>
          <p:grpSpPr>
            <a:xfrm>
              <a:off x="4497234" y="2174412"/>
              <a:ext cx="3494243" cy="2963455"/>
              <a:chOff x="4407892" y="2174412"/>
              <a:chExt cx="3494243" cy="2963455"/>
            </a:xfrm>
          </p:grpSpPr>
          <p:sp>
            <p:nvSpPr>
              <p:cNvPr id="48" name="Flowchart: Off-page Connector 47">
                <a:extLst>
                  <a:ext uri="{FF2B5EF4-FFF2-40B4-BE49-F238E27FC236}">
                    <a16:creationId xmlns:a16="http://schemas.microsoft.com/office/drawing/2014/main" id="{F51F8D09-C408-394E-25F8-E5D83B3F51F2}"/>
                  </a:ext>
                </a:extLst>
              </p:cNvPr>
              <p:cNvSpPr/>
              <p:nvPr/>
            </p:nvSpPr>
            <p:spPr>
              <a:xfrm>
                <a:off x="4407892" y="2174412"/>
                <a:ext cx="3394909" cy="2963455"/>
              </a:xfrm>
              <a:prstGeom prst="flowChartOffpageConnector">
                <a:avLst/>
              </a:prstGeom>
              <a:solidFill>
                <a:schemeClr val="accent4">
                  <a:lumMod val="60000"/>
                  <a:lumOff val="40000"/>
                  <a:alpha val="40000"/>
                </a:schemeClr>
              </a:solidFill>
              <a:ln>
                <a:noFill/>
              </a:ln>
              <a:effectLst>
                <a:outerShdw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395F35A-A7A8-7114-1620-C809526B7D08}"/>
                  </a:ext>
                </a:extLst>
              </p:cNvPr>
              <p:cNvSpPr txBox="1"/>
              <p:nvPr/>
            </p:nvSpPr>
            <p:spPr>
              <a:xfrm>
                <a:off x="4507227" y="2261006"/>
                <a:ext cx="3394908" cy="18293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Industry is moving toward behavioral gate intelligence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b="1" dirty="0"/>
                  <a:t>EAIGLE, </a:t>
                </a:r>
                <a:r>
                  <a:rPr lang="en-US" sz="2000" b="1" dirty="0" err="1"/>
                  <a:t>Opendock</a:t>
                </a:r>
                <a:r>
                  <a:rPr lang="en-US" sz="2000" b="1" dirty="0"/>
                  <a:t>, </a:t>
                </a:r>
                <a:r>
                  <a:rPr lang="en-US" b="1" dirty="0"/>
                  <a:t>ASSA ABLOY</a:t>
                </a:r>
                <a:r>
                  <a:rPr lang="en-US" sz="2000" b="1" dirty="0"/>
                  <a:t> </a:t>
                </a:r>
                <a:r>
                  <a:rPr lang="en-US" sz="2000" dirty="0"/>
                  <a:t>— proven at enterprise scale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Personally, I wish to experience  this IoT with ML end-to-end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000" dirty="0"/>
                  <a:t>Prove intelligence does not require enterprise budget</a:t>
                </a:r>
                <a:endParaRPr lang="en-US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p:grpSp>
        <p:sp>
          <p:nvSpPr>
            <p:cNvPr id="62" name="Flowchart: Off-page Connector 61">
              <a:extLst>
                <a:ext uri="{FF2B5EF4-FFF2-40B4-BE49-F238E27FC236}">
                  <a16:creationId xmlns:a16="http://schemas.microsoft.com/office/drawing/2014/main" id="{C1D547BC-4CD7-92B6-A7DC-84DD8D7348DE}"/>
                </a:ext>
              </a:extLst>
            </p:cNvPr>
            <p:cNvSpPr/>
            <p:nvPr/>
          </p:nvSpPr>
          <p:spPr>
            <a:xfrm>
              <a:off x="8390109" y="2176568"/>
              <a:ext cx="3394909" cy="2961299"/>
            </a:xfrm>
            <a:prstGeom prst="flowChartOffpageConnector">
              <a:avLst/>
            </a:prstGeom>
            <a:solidFill>
              <a:schemeClr val="accent3">
                <a:lumMod val="60000"/>
                <a:lumOff val="40000"/>
                <a:alpha val="4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B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44250B6-3B4C-3182-A980-4B8E660FF53D}"/>
                </a:ext>
              </a:extLst>
            </p:cNvPr>
            <p:cNvSpPr txBox="1"/>
            <p:nvPr/>
          </p:nvSpPr>
          <p:spPr>
            <a:xfrm>
              <a:off x="8390109" y="2403703"/>
              <a:ext cx="3394909" cy="20497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dirty="0"/>
                <a:t>RFID authentication at the edge (Arduino)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dirty="0"/>
                <a:t>Full digital audit trail → SQLite database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dirty="0"/>
                <a:t>Real-time live dashboard → localhost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dirty="0"/>
                <a:t>Behavioral analysis per user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dirty="0"/>
                <a:t>Hybrid anomaly detection → Rules + Isolation Forest ML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dirty="0"/>
                <a:t>Low cost. Fully local. No cloud.</a:t>
              </a:r>
              <a:endParaRPr lang="en-US" sz="20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8" name="Rectangle: Top Corners Rounded 87">
              <a:extLst>
                <a:ext uri="{FF2B5EF4-FFF2-40B4-BE49-F238E27FC236}">
                  <a16:creationId xmlns:a16="http://schemas.microsoft.com/office/drawing/2014/main" id="{E22C35E1-8CCD-BC96-04BB-569BA0F0F376}"/>
                </a:ext>
              </a:extLst>
            </p:cNvPr>
            <p:cNvSpPr/>
            <p:nvPr/>
          </p:nvSpPr>
          <p:spPr>
            <a:xfrm>
              <a:off x="4497234" y="1535206"/>
              <a:ext cx="3394908" cy="584776"/>
            </a:xfrm>
            <a:prstGeom prst="round2SameRect">
              <a:avLst/>
            </a:prstGeom>
            <a:solidFill>
              <a:schemeClr val="accent4">
                <a:lumMod val="75000"/>
                <a:alpha val="30000"/>
              </a:schemeClr>
            </a:solidFill>
            <a:ln w="28575">
              <a:solidFill>
                <a:schemeClr val="bg1"/>
              </a:solidFill>
            </a:ln>
            <a:effectLst>
              <a:innerShdw blurRad="63500" dist="50800" dir="13500000">
                <a:prstClr val="black">
                  <a:alpha val="54000"/>
                </a:prstClr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Motivation</a:t>
              </a:r>
            </a:p>
          </p:txBody>
        </p:sp>
        <p:sp>
          <p:nvSpPr>
            <p:cNvPr id="89" name="Rectangle: Top Corners Rounded 88">
              <a:extLst>
                <a:ext uri="{FF2B5EF4-FFF2-40B4-BE49-F238E27FC236}">
                  <a16:creationId xmlns:a16="http://schemas.microsoft.com/office/drawing/2014/main" id="{6A032E15-76BC-C2F9-6C99-3E4BBA45C5D0}"/>
                </a:ext>
              </a:extLst>
            </p:cNvPr>
            <p:cNvSpPr/>
            <p:nvPr/>
          </p:nvSpPr>
          <p:spPr>
            <a:xfrm>
              <a:off x="8390109" y="1535206"/>
              <a:ext cx="3394909" cy="584776"/>
            </a:xfrm>
            <a:prstGeom prst="round2SameRect">
              <a:avLst/>
            </a:prstGeom>
            <a:solidFill>
              <a:schemeClr val="accent3">
                <a:lumMod val="60000"/>
                <a:lumOff val="40000"/>
                <a:alpha val="40000"/>
              </a:schemeClr>
            </a:solidFill>
            <a:ln w="28575">
              <a:solidFill>
                <a:schemeClr val="bg1"/>
              </a:solidFill>
            </a:ln>
            <a:effectLst>
              <a:innerShdw blurRad="63500" dist="50800" dir="13500000">
                <a:prstClr val="black">
                  <a:alpha val="54000"/>
                </a:prstClr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Goal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327509"/>
      </p:ext>
    </p:extLst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43117F-C80E-8AA1-DF2E-0EF6D1EF5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C8ECFC-8208-B18A-B6BB-E9ED4F9600CB}"/>
              </a:ext>
            </a:extLst>
          </p:cNvPr>
          <p:cNvSpPr txBox="1"/>
          <p:nvPr/>
        </p:nvSpPr>
        <p:spPr>
          <a:xfrm>
            <a:off x="598715" y="370506"/>
            <a:ext cx="61939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effectLst/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System Architecture</a:t>
            </a:r>
            <a:endParaRPr lang="en-US" sz="4000" dirty="0">
              <a:solidFill>
                <a:srgbClr val="002060"/>
              </a:solidFill>
              <a:latin typeface="+mj-lt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0293D-F1D2-5465-169C-9FB14F4D7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463" y="1151890"/>
            <a:ext cx="8637069" cy="1584652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5EDAD4A-FFAD-E302-A736-A140EA725A1B}"/>
              </a:ext>
            </a:extLst>
          </p:cNvPr>
          <p:cNvGrpSpPr/>
          <p:nvPr/>
        </p:nvGrpSpPr>
        <p:grpSpPr>
          <a:xfrm>
            <a:off x="1443773" y="2736542"/>
            <a:ext cx="9503014" cy="2568717"/>
            <a:chOff x="1648206" y="3021796"/>
            <a:chExt cx="9503014" cy="256871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D779D1-2B52-0F92-22F7-B71C05A7FD81}"/>
                </a:ext>
              </a:extLst>
            </p:cNvPr>
            <p:cNvSpPr txBox="1"/>
            <p:nvPr/>
          </p:nvSpPr>
          <p:spPr>
            <a:xfrm>
              <a:off x="1915685" y="3021796"/>
              <a:ext cx="9235535" cy="25687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RFID Card → Arduino → Serial → Backend → Database → Dashboard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Arduino (edge): authentication + gate control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Backend: logging + analysis + visualization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Real-time data pipeline using serial communication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Fully local system (no cloud dependency) </a:t>
              </a: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A375F625-EABF-998B-3ED9-6C4A29DB5E44}"/>
                </a:ext>
              </a:extLst>
            </p:cNvPr>
            <p:cNvSpPr/>
            <p:nvPr/>
          </p:nvSpPr>
          <p:spPr>
            <a:xfrm>
              <a:off x="1652761" y="3253154"/>
              <a:ext cx="262924" cy="175846"/>
            </a:xfrm>
            <a:prstGeom prst="rightArrow">
              <a:avLst>
                <a:gd name="adj1" fmla="val 48518"/>
                <a:gd name="adj2" fmla="val 85567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16099D7E-ABF2-BBA7-48B9-854EEFB4B99B}"/>
                </a:ext>
              </a:extLst>
            </p:cNvPr>
            <p:cNvSpPr/>
            <p:nvPr/>
          </p:nvSpPr>
          <p:spPr>
            <a:xfrm>
              <a:off x="1652761" y="3780204"/>
              <a:ext cx="262924" cy="175846"/>
            </a:xfrm>
            <a:prstGeom prst="rightArrow">
              <a:avLst>
                <a:gd name="adj1" fmla="val 48518"/>
                <a:gd name="adj2" fmla="val 85567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C92CA7D6-1E8E-8388-4B98-B530FA9AB25B}"/>
                </a:ext>
              </a:extLst>
            </p:cNvPr>
            <p:cNvSpPr/>
            <p:nvPr/>
          </p:nvSpPr>
          <p:spPr>
            <a:xfrm>
              <a:off x="1652761" y="4259629"/>
              <a:ext cx="262924" cy="175846"/>
            </a:xfrm>
            <a:prstGeom prst="rightArrow">
              <a:avLst>
                <a:gd name="adj1" fmla="val 48518"/>
                <a:gd name="adj2" fmla="val 85567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21EE53BA-D98A-1E33-4F77-DCF745E99D5C}"/>
                </a:ext>
              </a:extLst>
            </p:cNvPr>
            <p:cNvSpPr/>
            <p:nvPr/>
          </p:nvSpPr>
          <p:spPr>
            <a:xfrm>
              <a:off x="1652761" y="4749225"/>
              <a:ext cx="262924" cy="175846"/>
            </a:xfrm>
            <a:prstGeom prst="rightArrow">
              <a:avLst>
                <a:gd name="adj1" fmla="val 48518"/>
                <a:gd name="adj2" fmla="val 85567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F9BC7547-276E-D937-D4E2-8614FE49F092}"/>
                </a:ext>
              </a:extLst>
            </p:cNvPr>
            <p:cNvSpPr/>
            <p:nvPr/>
          </p:nvSpPr>
          <p:spPr>
            <a:xfrm>
              <a:off x="1648206" y="5238821"/>
              <a:ext cx="262924" cy="175846"/>
            </a:xfrm>
            <a:prstGeom prst="rightArrow">
              <a:avLst>
                <a:gd name="adj1" fmla="val 48518"/>
                <a:gd name="adj2" fmla="val 85567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725100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crush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50DF94-E7EA-2A7B-201E-1F30DB0A7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860" y="1476573"/>
            <a:ext cx="4796443" cy="341651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66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7C9E55-7BF4-4D58-3582-9D237FD60D25}"/>
              </a:ext>
            </a:extLst>
          </p:cNvPr>
          <p:cNvSpPr txBox="1"/>
          <p:nvPr/>
        </p:nvSpPr>
        <p:spPr>
          <a:xfrm>
            <a:off x="598715" y="370506"/>
            <a:ext cx="61939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effectLst/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Hardware &amp; Design</a:t>
            </a:r>
            <a:endParaRPr lang="en-US" sz="4000" dirty="0">
              <a:solidFill>
                <a:srgbClr val="002060"/>
              </a:solidFill>
              <a:latin typeface="+mj-lt"/>
              <a:ea typeface="Cambria" panose="020405030504060302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20A478-84CF-B487-E76E-D985FBC3D1B4}"/>
              </a:ext>
            </a:extLst>
          </p:cNvPr>
          <p:cNvSpPr txBox="1"/>
          <p:nvPr/>
        </p:nvSpPr>
        <p:spPr>
          <a:xfrm>
            <a:off x="680988" y="1811609"/>
            <a:ext cx="5610872" cy="234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Components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Arduino UNO, RFID RC522 (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13.56 MHz</a:t>
            </a:r>
            <a:r>
              <a:rPr lang="en-US" sz="2000" dirty="0"/>
              <a:t>)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Servo controls gate (open/close)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LEDs + buzzer + LCD for feedback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IN/OUT state tracking per user </a:t>
            </a:r>
          </a:p>
        </p:txBody>
      </p:sp>
    </p:spTree>
    <p:extLst>
      <p:ext uri="{BB962C8B-B14F-4D97-AF65-F5344CB8AC3E}">
        <p14:creationId xmlns:p14="http://schemas.microsoft.com/office/powerpoint/2010/main" val="40594265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airplane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EC568-89F0-BBBB-5A3D-E95356BA4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CC151B-7B92-64CB-7DBD-2185D6EC9EDA}"/>
              </a:ext>
            </a:extLst>
          </p:cNvPr>
          <p:cNvSpPr txBox="1"/>
          <p:nvPr/>
        </p:nvSpPr>
        <p:spPr>
          <a:xfrm>
            <a:off x="598715" y="370506"/>
            <a:ext cx="61939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effectLst/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Backend &amp; Dashboard</a:t>
            </a:r>
            <a:endParaRPr lang="en-US" sz="4000" dirty="0">
              <a:solidFill>
                <a:srgbClr val="002060"/>
              </a:solidFill>
              <a:latin typeface="+mj-lt"/>
              <a:ea typeface="Cambria" panose="020405030504060302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7DC21CF-0760-F528-1C11-E4CFAF9F960E}"/>
              </a:ext>
            </a:extLst>
          </p:cNvPr>
          <p:cNvGrpSpPr/>
          <p:nvPr/>
        </p:nvGrpSpPr>
        <p:grpSpPr>
          <a:xfrm>
            <a:off x="772650" y="1158939"/>
            <a:ext cx="7399198" cy="4455835"/>
            <a:chOff x="560893" y="1158939"/>
            <a:chExt cx="7494462" cy="445583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86B519C-0618-D32A-8E3A-1CFF623365C2}"/>
                </a:ext>
              </a:extLst>
            </p:cNvPr>
            <p:cNvSpPr txBox="1"/>
            <p:nvPr/>
          </p:nvSpPr>
          <p:spPr>
            <a:xfrm>
              <a:off x="838200" y="1158939"/>
              <a:ext cx="7217155" cy="44558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Backend: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  <a:r>
                <a:rPr kumimoji="0" lang="en-US" altLang="en-US" sz="24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FastAPI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+ SQLite + </a:t>
              </a:r>
              <a:r>
                <a:rPr kumimoji="0" lang="en-US" altLang="en-US" sz="24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PySerial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Data flow:</a:t>
              </a: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 Serial → Service → Database → API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Clean architecture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(Config, Repository, Service, API)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en-US" alt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Dashboard features: </a:t>
              </a:r>
            </a:p>
            <a:p>
              <a:pPr marL="342900" marR="0" lvl="0" indent="-3429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Real-time logs </a:t>
              </a:r>
            </a:p>
            <a:p>
              <a:pPr marL="342900" marR="0" lvl="0" indent="-3429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User presence (IN/OUT) </a:t>
              </a:r>
            </a:p>
            <a:p>
              <a:pPr marL="342900" marR="0" lvl="0" indent="-342900" algn="l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Filtering + statistics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B1814E84-D3D3-9731-A3D5-CBF9A0C00085}"/>
                </a:ext>
              </a:extLst>
            </p:cNvPr>
            <p:cNvSpPr/>
            <p:nvPr/>
          </p:nvSpPr>
          <p:spPr>
            <a:xfrm>
              <a:off x="571891" y="1429247"/>
              <a:ext cx="266309" cy="175846"/>
            </a:xfrm>
            <a:prstGeom prst="rightArrow">
              <a:avLst>
                <a:gd name="adj1" fmla="val 48518"/>
                <a:gd name="adj2" fmla="val 85567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A356833D-DE49-78F1-F17B-5546046D8C69}"/>
                </a:ext>
              </a:extLst>
            </p:cNvPr>
            <p:cNvSpPr/>
            <p:nvPr/>
          </p:nvSpPr>
          <p:spPr>
            <a:xfrm>
              <a:off x="560893" y="1994211"/>
              <a:ext cx="266309" cy="175846"/>
            </a:xfrm>
            <a:prstGeom prst="rightArrow">
              <a:avLst>
                <a:gd name="adj1" fmla="val 48518"/>
                <a:gd name="adj2" fmla="val 85567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87599765-F0EC-097C-E597-B7CF15E515E1}"/>
                </a:ext>
              </a:extLst>
            </p:cNvPr>
            <p:cNvSpPr/>
            <p:nvPr/>
          </p:nvSpPr>
          <p:spPr>
            <a:xfrm>
              <a:off x="571891" y="2520912"/>
              <a:ext cx="266309" cy="175846"/>
            </a:xfrm>
            <a:prstGeom prst="rightArrow">
              <a:avLst>
                <a:gd name="adj1" fmla="val 48518"/>
                <a:gd name="adj2" fmla="val 85567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EFF0D127-BF7B-D73D-B74C-DBABD51ABE42}"/>
                </a:ext>
              </a:extLst>
            </p:cNvPr>
            <p:cNvSpPr/>
            <p:nvPr/>
          </p:nvSpPr>
          <p:spPr>
            <a:xfrm>
              <a:off x="560893" y="3612577"/>
              <a:ext cx="266309" cy="175846"/>
            </a:xfrm>
            <a:prstGeom prst="rightArrow">
              <a:avLst>
                <a:gd name="adj1" fmla="val 48518"/>
                <a:gd name="adj2" fmla="val 85567"/>
              </a:avLst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DD416E5-1D05-873E-1BFA-81E690F5CDFD}"/>
              </a:ext>
            </a:extLst>
          </p:cNvPr>
          <p:cNvGrpSpPr/>
          <p:nvPr/>
        </p:nvGrpSpPr>
        <p:grpSpPr>
          <a:xfrm>
            <a:off x="7935686" y="724451"/>
            <a:ext cx="3899849" cy="1648637"/>
            <a:chOff x="866274" y="5085717"/>
            <a:chExt cx="4778357" cy="1144022"/>
          </a:xfrm>
        </p:grpSpPr>
        <p:sp>
          <p:nvSpPr>
            <p:cNvPr id="16" name="Rectangle: Diagonal Corners Rounded 15">
              <a:extLst>
                <a:ext uri="{FF2B5EF4-FFF2-40B4-BE49-F238E27FC236}">
                  <a16:creationId xmlns:a16="http://schemas.microsoft.com/office/drawing/2014/main" id="{2BE3A8A9-EBB8-37DE-A763-17FE6D79BBA4}"/>
                </a:ext>
              </a:extLst>
            </p:cNvPr>
            <p:cNvSpPr/>
            <p:nvPr/>
          </p:nvSpPr>
          <p:spPr>
            <a:xfrm>
              <a:off x="866274" y="5085717"/>
              <a:ext cx="4655419" cy="1144022"/>
            </a:xfrm>
            <a:prstGeom prst="round2Diag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000" dirty="0">
                <a:solidFill>
                  <a:srgbClr val="002060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3DD8BC6-2639-4B44-0C9B-7B54C14CB282}"/>
                </a:ext>
              </a:extLst>
            </p:cNvPr>
            <p:cNvSpPr txBox="1"/>
            <p:nvPr/>
          </p:nvSpPr>
          <p:spPr>
            <a:xfrm>
              <a:off x="989212" y="5166341"/>
              <a:ext cx="4655419" cy="9610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rgbClr val="002060"/>
                  </a:solidFill>
                </a:rPr>
                <a:t>→ Serial never calls API routes — clean separation</a:t>
              </a:r>
            </a:p>
            <a:p>
              <a:r>
                <a:rPr lang="en-US" sz="1400" b="1" dirty="0">
                  <a:solidFill>
                    <a:srgbClr val="002060"/>
                  </a:solidFill>
                </a:rPr>
                <a:t>→ 5 API endpoints + 2 analytical endpoints</a:t>
              </a:r>
            </a:p>
            <a:p>
              <a:r>
                <a:rPr lang="en-US" sz="1400" b="1" dirty="0">
                  <a:solidFill>
                    <a:srgbClr val="002060"/>
                  </a:solidFill>
                </a:rPr>
                <a:t>→ Dashboard = pure static HTML/JS</a:t>
              </a:r>
            </a:p>
            <a:p>
              <a:r>
                <a:rPr lang="en-US" sz="1400" b="1" dirty="0">
                  <a:solidFill>
                    <a:srgbClr val="002060"/>
                  </a:solidFill>
                </a:rPr>
                <a:t>→ Per-user behavioral page with hourly bar chart + stay durations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58153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prism isContent="1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E5EE15-A554-B808-B300-E6838BC43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53CA63-CC7C-53B2-CCB1-AAE55F4F6E9E}"/>
              </a:ext>
            </a:extLst>
          </p:cNvPr>
          <p:cNvSpPr txBox="1"/>
          <p:nvPr/>
        </p:nvSpPr>
        <p:spPr>
          <a:xfrm>
            <a:off x="598715" y="370506"/>
            <a:ext cx="61939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effectLst/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Anomaly Detection</a:t>
            </a:r>
            <a:endParaRPr lang="en-US" sz="4000" dirty="0">
              <a:solidFill>
                <a:srgbClr val="002060"/>
              </a:solidFill>
              <a:latin typeface="+mj-lt"/>
              <a:ea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DACCD-BF63-8EF0-E70B-B48BFBD43564}"/>
              </a:ext>
            </a:extLst>
          </p:cNvPr>
          <p:cNvSpPr txBox="1"/>
          <p:nvPr/>
        </p:nvSpPr>
        <p:spPr>
          <a:xfrm>
            <a:off x="1693246" y="1165636"/>
            <a:ext cx="34963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Rule-Based Detection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C722FBA-A6B8-ED8C-4846-060327004575}"/>
              </a:ext>
            </a:extLst>
          </p:cNvPr>
          <p:cNvCxnSpPr/>
          <p:nvPr/>
        </p:nvCxnSpPr>
        <p:spPr>
          <a:xfrm>
            <a:off x="1693246" y="1608051"/>
            <a:ext cx="32629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358705-5849-B6C7-E92C-74FEDE7BAE63}"/>
              </a:ext>
            </a:extLst>
          </p:cNvPr>
          <p:cNvSpPr txBox="1"/>
          <p:nvPr/>
        </p:nvSpPr>
        <p:spPr>
          <a:xfrm>
            <a:off x="7235790" y="1184886"/>
            <a:ext cx="34963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2060"/>
                </a:solidFill>
              </a:rPr>
              <a:t>Machine Learning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DEB18FE-66C3-5D9F-D282-7178B473DB99}"/>
              </a:ext>
            </a:extLst>
          </p:cNvPr>
          <p:cNvCxnSpPr/>
          <p:nvPr/>
        </p:nvCxnSpPr>
        <p:spPr>
          <a:xfrm>
            <a:off x="7235790" y="1627301"/>
            <a:ext cx="32629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F47B1F-C22E-057C-1303-26A25D083C37}"/>
              </a:ext>
            </a:extLst>
          </p:cNvPr>
          <p:cNvSpPr txBox="1"/>
          <p:nvPr/>
        </p:nvSpPr>
        <p:spPr>
          <a:xfrm>
            <a:off x="1251848" y="1677696"/>
            <a:ext cx="48441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Off-hours </a:t>
            </a:r>
          </a:p>
          <a:p>
            <a:r>
              <a:rPr lang="en-US" sz="2000" dirty="0"/>
              <a:t>    → configurable window (10AM–3PM)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Sliding window algorithm</a:t>
            </a:r>
          </a:p>
          <a:p>
            <a:r>
              <a:rPr lang="en-US" sz="2000" dirty="0"/>
              <a:t>     → 5 scans / 60 seconds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Streak detection</a:t>
            </a:r>
          </a:p>
          <a:p>
            <a:r>
              <a:rPr lang="en-US" sz="2000" dirty="0"/>
              <a:t>     → last 3 DB records per UID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05D00B-F946-B278-B682-C5DAD6265C10}"/>
              </a:ext>
            </a:extLst>
          </p:cNvPr>
          <p:cNvSpPr txBox="1"/>
          <p:nvPr/>
        </p:nvSpPr>
        <p:spPr>
          <a:xfrm>
            <a:off x="6847630" y="1830051"/>
            <a:ext cx="46228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Isolation Forest model </a:t>
            </a:r>
          </a:p>
          <a:p>
            <a:r>
              <a:rPr lang="en-US" sz="2000" dirty="0"/>
              <a:t>     (Unsupervised Model)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Feature: time of access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Detects unusual behavior patterns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AB8E6A0-C1C2-6773-4159-52D8C0B23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706" y="3252118"/>
            <a:ext cx="3519713" cy="2227931"/>
          </a:xfrm>
          <a:prstGeom prst="rect">
            <a:avLst/>
          </a:prstGeom>
        </p:spPr>
      </p:pic>
      <p:sp>
        <p:nvSpPr>
          <p:cNvPr id="20" name="TextBox 19">
            <a:hlinkClick r:id="rId3"/>
            <a:extLst>
              <a:ext uri="{FF2B5EF4-FFF2-40B4-BE49-F238E27FC236}">
                <a16:creationId xmlns:a16="http://schemas.microsoft.com/office/drawing/2014/main" id="{CAFA4F67-959E-C136-92C3-77E5F2DC93CD}"/>
              </a:ext>
            </a:extLst>
          </p:cNvPr>
          <p:cNvSpPr txBox="1"/>
          <p:nvPr/>
        </p:nvSpPr>
        <p:spPr>
          <a:xfrm>
            <a:off x="7308706" y="5684000"/>
            <a:ext cx="366409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050" b="1" dirty="0" err="1">
                <a:effectLst/>
              </a:rPr>
              <a:t>iTRAC</a:t>
            </a:r>
            <a:r>
              <a:rPr lang="en-US" sz="1050" b="1" dirty="0">
                <a:effectLst/>
              </a:rPr>
              <a:t>: Intelligent Tracking and Real-Time Analysis on Cloud Using RFID and MQTT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9E505C-7A60-4E33-3B1F-698972A1A157}"/>
              </a:ext>
            </a:extLst>
          </p:cNvPr>
          <p:cNvSpPr txBox="1"/>
          <p:nvPr/>
        </p:nvSpPr>
        <p:spPr>
          <a:xfrm>
            <a:off x="7420505" y="5480050"/>
            <a:ext cx="35197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dirty="0"/>
              <a:t>Fig. 1. Anomaly detection using isolation forest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909173E-34A3-6F42-79F6-2C468F1D3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6949" y="3557492"/>
            <a:ext cx="3053082" cy="2689199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F8D7E43-9829-9FDF-1FCD-F1E1FD1FBA23}"/>
              </a:ext>
            </a:extLst>
          </p:cNvPr>
          <p:cNvCxnSpPr>
            <a:cxnSpLocks/>
          </p:cNvCxnSpPr>
          <p:nvPr/>
        </p:nvCxnSpPr>
        <p:spPr>
          <a:xfrm>
            <a:off x="5936383" y="1331211"/>
            <a:ext cx="0" cy="4674951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616FDF5-444C-2E4D-970C-203669F076A0}"/>
              </a:ext>
            </a:extLst>
          </p:cNvPr>
          <p:cNvSpPr txBox="1"/>
          <p:nvPr/>
        </p:nvSpPr>
        <p:spPr>
          <a:xfrm>
            <a:off x="2987844" y="6246691"/>
            <a:ext cx="59732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002060"/>
                </a:solidFill>
              </a:rPr>
              <a:t>Hybrid approach = simple + intelligent detection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0C8A1A7-5D31-3C95-8460-3B93C66DB870}"/>
              </a:ext>
            </a:extLst>
          </p:cNvPr>
          <p:cNvSpPr/>
          <p:nvPr/>
        </p:nvSpPr>
        <p:spPr>
          <a:xfrm>
            <a:off x="2777536" y="6208911"/>
            <a:ext cx="6363217" cy="466382"/>
          </a:xfrm>
          <a:prstGeom prst="roundRect">
            <a:avLst/>
          </a:prstGeom>
          <a:solidFill>
            <a:schemeClr val="accent4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466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ED6C2B-C1A4-10B4-799A-BDAC06021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084BB3-72BF-E05B-A5C2-BE0DE6B94EBC}"/>
              </a:ext>
            </a:extLst>
          </p:cNvPr>
          <p:cNvSpPr txBox="1"/>
          <p:nvPr/>
        </p:nvSpPr>
        <p:spPr>
          <a:xfrm>
            <a:off x="598715" y="370506"/>
            <a:ext cx="61939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effectLst/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Dashboard</a:t>
            </a:r>
            <a:endParaRPr lang="en-US" sz="4000" dirty="0">
              <a:solidFill>
                <a:srgbClr val="002060"/>
              </a:solidFill>
              <a:latin typeface="+mj-lt"/>
              <a:ea typeface="Cambria" panose="020405030504060302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4D5D80-78EF-EC4A-DB1B-EBBAFA1C8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514" y="1395006"/>
            <a:ext cx="8915400" cy="4853329"/>
          </a:xfrm>
          <a:prstGeom prst="rect">
            <a:avLst/>
          </a:prstGeom>
          <a:effectLst>
            <a:glow>
              <a:srgbClr val="002060">
                <a:alpha val="40000"/>
              </a:srgbClr>
            </a:glow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419700144"/>
      </p:ext>
    </p:extLst>
  </p:cSld>
  <p:clrMapOvr>
    <a:masterClrMapping/>
  </p:clrMapOvr>
  <p:transition spd="med">
    <p:dissolv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53440A-1027-2D50-807B-5432B3F2C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4EE2FB-2089-E360-711A-A63454016357}"/>
              </a:ext>
            </a:extLst>
          </p:cNvPr>
          <p:cNvSpPr txBox="1"/>
          <p:nvPr/>
        </p:nvSpPr>
        <p:spPr>
          <a:xfrm>
            <a:off x="598715" y="370506"/>
            <a:ext cx="61939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effectLst/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Demo</a:t>
            </a:r>
            <a:endParaRPr lang="en-US" sz="4000" dirty="0">
              <a:solidFill>
                <a:srgbClr val="002060"/>
              </a:solidFill>
              <a:latin typeface="+mj-lt"/>
              <a:ea typeface="Cambria" panose="02040503050406030204" pitchFamily="18" charset="0"/>
            </a:endParaRPr>
          </a:p>
        </p:txBody>
      </p:sp>
      <p:pic>
        <p:nvPicPr>
          <p:cNvPr id="2" name="Online Media 1" title="IoT Security Gate with RFID, Real-Time Dashboard &amp; ML Anomaly Detection | ISTE730 IoT Project">
            <a:hlinkClick r:id="" action="ppaction://media"/>
            <a:extLst>
              <a:ext uri="{FF2B5EF4-FFF2-40B4-BE49-F238E27FC236}">
                <a16:creationId xmlns:a16="http://schemas.microsoft.com/office/drawing/2014/main" id="{9BCF061A-2D42-30E1-B45B-A26D3924718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480457" y="1185164"/>
            <a:ext cx="8897257" cy="502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255132"/>
      </p:ext>
    </p:extLst>
  </p:cSld>
  <p:clrMapOvr>
    <a:masterClrMapping/>
  </p:clrMapOvr>
  <p:transition spd="med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679090-7412-A85F-E1A0-47E7ED2F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1BB2B3-7EAA-9C3D-9E93-1EE575AE39DC}"/>
              </a:ext>
            </a:extLst>
          </p:cNvPr>
          <p:cNvSpPr txBox="1"/>
          <p:nvPr/>
        </p:nvSpPr>
        <p:spPr>
          <a:xfrm>
            <a:off x="598715" y="370506"/>
            <a:ext cx="85779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02060"/>
                </a:solidFill>
                <a:effectLst/>
                <a:latin typeface="+mj-lt"/>
                <a:ea typeface="Cambria" panose="02040503050406030204" pitchFamily="18" charset="0"/>
                <a:cs typeface="Times New Roman" panose="02020603050405020304" pitchFamily="18" charset="0"/>
              </a:rPr>
              <a:t>Results, Challenge &amp; Future Work</a:t>
            </a:r>
            <a:endParaRPr lang="en-US" sz="4000" dirty="0">
              <a:solidFill>
                <a:srgbClr val="002060"/>
              </a:solidFill>
              <a:latin typeface="+mj-lt"/>
              <a:ea typeface="Cambria" panose="020405030504060302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ABF847E-FCEB-1951-1DE5-2152F4634361}"/>
              </a:ext>
            </a:extLst>
          </p:cNvPr>
          <p:cNvGrpSpPr/>
          <p:nvPr/>
        </p:nvGrpSpPr>
        <p:grpSpPr>
          <a:xfrm>
            <a:off x="1665512" y="1405394"/>
            <a:ext cx="9307287" cy="1436914"/>
            <a:chOff x="1665513" y="1274335"/>
            <a:chExt cx="9460865" cy="1436914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BEB4AB4-94DB-1EE7-79FF-6D5B76163BF8}"/>
                </a:ext>
              </a:extLst>
            </p:cNvPr>
            <p:cNvSpPr/>
            <p:nvPr/>
          </p:nvSpPr>
          <p:spPr>
            <a:xfrm>
              <a:off x="1665513" y="1274336"/>
              <a:ext cx="9460865" cy="1436913"/>
            </a:xfrm>
            <a:prstGeom prst="roundRect">
              <a:avLst/>
            </a:prstGeom>
            <a:solidFill>
              <a:schemeClr val="accent6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9739F90-48B8-A59B-CD36-0E3D30AD7E8E}"/>
                </a:ext>
              </a:extLst>
            </p:cNvPr>
            <p:cNvSpPr/>
            <p:nvPr/>
          </p:nvSpPr>
          <p:spPr>
            <a:xfrm>
              <a:off x="1665513" y="1274335"/>
              <a:ext cx="2677885" cy="1436913"/>
            </a:xfrm>
            <a:prstGeom prst="roundRect">
              <a:avLst/>
            </a:prstGeom>
            <a:solidFill>
              <a:schemeClr val="accent6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FA456D6-7566-7122-297E-DC86C821F764}"/>
                </a:ext>
              </a:extLst>
            </p:cNvPr>
            <p:cNvSpPr txBox="1"/>
            <p:nvPr/>
          </p:nvSpPr>
          <p:spPr>
            <a:xfrm>
              <a:off x="2209800" y="1700403"/>
              <a:ext cx="1817914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rgbClr val="002060"/>
                  </a:solidFill>
                  <a:effectLst/>
                  <a:latin typeface="+mj-lt"/>
                  <a:ea typeface="Cambria" panose="02040503050406030204" pitchFamily="18" charset="0"/>
                  <a:cs typeface="Times New Roman" panose="02020603050405020304" pitchFamily="18" charset="0"/>
                </a:rPr>
                <a:t>Results</a:t>
              </a:r>
              <a:endParaRPr lang="en-US" sz="32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40BD45A-7C17-0863-3A19-905AD57B8EF8}"/>
                </a:ext>
              </a:extLst>
            </p:cNvPr>
            <p:cNvSpPr txBox="1"/>
            <p:nvPr/>
          </p:nvSpPr>
          <p:spPr>
            <a:xfrm>
              <a:off x="4553618" y="1484958"/>
              <a:ext cx="470262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Real-time system (~1–2 sec delay) 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Accurate logging and monitoring </a:t>
              </a:r>
            </a:p>
            <a:p>
              <a:pPr marL="285750" marR="0" lvl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Anomalies detected successfully 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CDF9CE1-4B43-24F2-4FA1-17FF6E582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03" r="21886"/>
            <a:stretch>
              <a:fillRect/>
            </a:stretch>
          </p:blipFill>
          <p:spPr>
            <a:xfrm>
              <a:off x="1828799" y="1755183"/>
              <a:ext cx="455870" cy="487627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E2F819B-60E3-A801-C4A8-98715D962C20}"/>
              </a:ext>
            </a:extLst>
          </p:cNvPr>
          <p:cNvGrpSpPr/>
          <p:nvPr/>
        </p:nvGrpSpPr>
        <p:grpSpPr>
          <a:xfrm>
            <a:off x="1654625" y="3052935"/>
            <a:ext cx="9318175" cy="1436914"/>
            <a:chOff x="1665513" y="1274335"/>
            <a:chExt cx="8867955" cy="1436914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23E08F5-F955-2805-3649-A99755555208}"/>
                </a:ext>
              </a:extLst>
            </p:cNvPr>
            <p:cNvSpPr/>
            <p:nvPr/>
          </p:nvSpPr>
          <p:spPr>
            <a:xfrm>
              <a:off x="1665514" y="1274336"/>
              <a:ext cx="8867954" cy="1436913"/>
            </a:xfrm>
            <a:prstGeom prst="roundRect">
              <a:avLst/>
            </a:prstGeom>
            <a:solidFill>
              <a:srgbClr val="FFFF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C00E642-CCA5-CCC4-1C07-12C0BB37F13E}"/>
                </a:ext>
              </a:extLst>
            </p:cNvPr>
            <p:cNvSpPr/>
            <p:nvPr/>
          </p:nvSpPr>
          <p:spPr>
            <a:xfrm>
              <a:off x="1665513" y="1274335"/>
              <a:ext cx="2551020" cy="1436913"/>
            </a:xfrm>
            <a:prstGeom prst="roundRect">
              <a:avLst/>
            </a:prstGeom>
            <a:solidFill>
              <a:srgbClr val="FFFF00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B8EA00D-C871-2B43-983E-A9B1B5A4E185}"/>
                </a:ext>
              </a:extLst>
            </p:cNvPr>
            <p:cNvSpPr txBox="1"/>
            <p:nvPr/>
          </p:nvSpPr>
          <p:spPr>
            <a:xfrm>
              <a:off x="2209799" y="1700403"/>
              <a:ext cx="21444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rgbClr val="002060"/>
                  </a:solidFill>
                  <a:effectLst/>
                  <a:latin typeface="+mj-lt"/>
                  <a:ea typeface="Cambria" panose="02040503050406030204" pitchFamily="18" charset="0"/>
                  <a:cs typeface="Times New Roman" panose="02020603050405020304" pitchFamily="18" charset="0"/>
                </a:rPr>
                <a:t>Challenges</a:t>
              </a:r>
              <a:endParaRPr lang="en-US" sz="28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0269C2-658F-2BBD-F952-F15100D71C3A}"/>
                </a:ext>
              </a:extLst>
            </p:cNvPr>
            <p:cNvSpPr txBox="1"/>
            <p:nvPr/>
          </p:nvSpPr>
          <p:spPr>
            <a:xfrm>
              <a:off x="4379819" y="1484959"/>
              <a:ext cx="4702628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q"/>
              </a:pPr>
              <a:r>
                <a:rPr lang="en-US" sz="2000" dirty="0"/>
                <a:t>RC522 instability</a:t>
              </a:r>
            </a:p>
            <a:p>
              <a:pPr marL="342900" indent="-342900">
                <a:buFont typeface="Wingdings" panose="05000000000000000000" pitchFamily="2" charset="2"/>
                <a:buChar char="q"/>
              </a:pPr>
              <a:r>
                <a:rPr lang="en-US" sz="2000" dirty="0"/>
                <a:t>Serial port conflicts</a:t>
              </a:r>
            </a:p>
            <a:p>
              <a:pPr marL="342900" indent="-342900">
                <a:buFont typeface="Wingdings" panose="05000000000000000000" pitchFamily="2" charset="2"/>
                <a:buChar char="q"/>
              </a:pPr>
              <a:r>
                <a:rPr lang="en-US" sz="2000" dirty="0"/>
                <a:t>Power limitations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C5F1F43-BAAC-DB4C-8E1A-55A22CF2B01F}"/>
              </a:ext>
            </a:extLst>
          </p:cNvPr>
          <p:cNvGrpSpPr/>
          <p:nvPr/>
        </p:nvGrpSpPr>
        <p:grpSpPr>
          <a:xfrm>
            <a:off x="1654625" y="4730272"/>
            <a:ext cx="9398243" cy="1436914"/>
            <a:chOff x="1665513" y="1274335"/>
            <a:chExt cx="8944154" cy="1436914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8AEDC8E-F9DB-1BCC-5211-6494895E4B64}"/>
                </a:ext>
              </a:extLst>
            </p:cNvPr>
            <p:cNvSpPr/>
            <p:nvPr/>
          </p:nvSpPr>
          <p:spPr>
            <a:xfrm>
              <a:off x="1665513" y="1274336"/>
              <a:ext cx="8867954" cy="1436913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8239F70-DB8F-CF77-69D4-E2D37FB785A6}"/>
                </a:ext>
              </a:extLst>
            </p:cNvPr>
            <p:cNvSpPr/>
            <p:nvPr/>
          </p:nvSpPr>
          <p:spPr>
            <a:xfrm>
              <a:off x="1665513" y="1274335"/>
              <a:ext cx="2551020" cy="1436913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51C000C-8969-CE6E-D0EE-C0DC76527722}"/>
                </a:ext>
              </a:extLst>
            </p:cNvPr>
            <p:cNvSpPr txBox="1"/>
            <p:nvPr/>
          </p:nvSpPr>
          <p:spPr>
            <a:xfrm>
              <a:off x="2209799" y="1700403"/>
              <a:ext cx="214448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rgbClr val="002060"/>
                  </a:solidFill>
                  <a:effectLst/>
                  <a:latin typeface="+mj-lt"/>
                  <a:ea typeface="Cambria" panose="02040503050406030204" pitchFamily="18" charset="0"/>
                  <a:cs typeface="Times New Roman" panose="02020603050405020304" pitchFamily="18" charset="0"/>
                </a:rPr>
                <a:t>Future Work</a:t>
              </a:r>
              <a:endParaRPr lang="en-US" sz="28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C8F972A-60B6-C4F8-3ED3-C1304DE9C791}"/>
                </a:ext>
              </a:extLst>
            </p:cNvPr>
            <p:cNvSpPr txBox="1"/>
            <p:nvPr/>
          </p:nvSpPr>
          <p:spPr>
            <a:xfrm>
              <a:off x="4278085" y="1484959"/>
              <a:ext cx="6331582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US" sz="2000" dirty="0"/>
                <a:t>Upgrade to PostgreSQL — production-grade database </a:t>
              </a:r>
            </a:p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US" sz="2000" dirty="0"/>
                <a:t>Collect more data — improve ML model accuracy</a:t>
              </a:r>
            </a:p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US" sz="2000" dirty="0"/>
                <a:t>Expand Isolation Forest features</a:t>
              </a: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663236E7-C00C-2B06-85FD-5CAD6F77F9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201" y="3528563"/>
            <a:ext cx="424099" cy="424099"/>
          </a:xfrm>
          <a:prstGeom prst="rect">
            <a:avLst/>
          </a:prstGeom>
        </p:spPr>
      </p:pic>
      <p:pic>
        <p:nvPicPr>
          <p:cNvPr id="3081" name="Picture 9" descr="➡️ Right Arrow Emoji: Meaning &amp; Usage">
            <a:extLst>
              <a:ext uri="{FF2B5EF4-FFF2-40B4-BE49-F238E27FC236}">
                <a16:creationId xmlns:a16="http://schemas.microsoft.com/office/drawing/2014/main" id="{04C4ABAC-4BD7-17DE-8FF9-2232B563B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279" y="5258939"/>
            <a:ext cx="318021" cy="31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04213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airplane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A692D8-5DC9-0DF1-D532-4C13311CD2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14" r="-1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1991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airplane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433</Words>
  <Application>Microsoft Office PowerPoint</Application>
  <PresentationFormat>Widescreen</PresentationFormat>
  <Paragraphs>81</Paragraphs>
  <Slides>11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Bierstadt</vt:lpstr>
      <vt:lpstr>Cambria</vt:lpstr>
      <vt:lpstr>Wingdings</vt:lpstr>
      <vt:lpstr>GestaltVTI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VETRIVEL MAHESWARAN</dc:creator>
  <cp:lastModifiedBy>VETRIVEL MAHESWARAN</cp:lastModifiedBy>
  <cp:revision>53</cp:revision>
  <dcterms:created xsi:type="dcterms:W3CDTF">2026-04-19T03:23:52Z</dcterms:created>
  <dcterms:modified xsi:type="dcterms:W3CDTF">2026-04-22T14:51:35Z</dcterms:modified>
</cp:coreProperties>
</file>