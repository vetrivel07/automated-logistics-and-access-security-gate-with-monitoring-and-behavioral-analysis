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"/>
  </p:notesMasterIdLst>
  <p:sldIdLst>
    <p:sldId id="258" r:id="rId2"/>
    <p:sldId id="260" r:id="rId3"/>
    <p:sldId id="262" r:id="rId4"/>
    <p:sldId id="261" r:id="rId5"/>
    <p:sldId id="263" r:id="rId6"/>
    <p:sldId id="264" r:id="rId7"/>
    <p:sldId id="265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DD0DE-6CF1-4D10-9DC2-9B30B6E7814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904D9-6144-4FCC-A592-DE311E4D6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1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A2114-3D9C-4AB6-B37B-6BAFC2E49F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50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5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3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24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2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0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33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8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2" r:id="rId6"/>
    <p:sldLayoutId id="2147483667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374930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C779D-5025-DDD4-AB04-7E4E77DE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8AF8E-505A-E6B4-6D76-DF624C1042A8}"/>
              </a:ext>
            </a:extLst>
          </p:cNvPr>
          <p:cNvSpPr txBox="1"/>
          <p:nvPr/>
        </p:nvSpPr>
        <p:spPr>
          <a:xfrm>
            <a:off x="5342021" y="1260994"/>
            <a:ext cx="67520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Automated Logistics and Access Security Gate with Monitoring and Behavioral Analysis</a:t>
            </a:r>
            <a:endParaRPr lang="en-US" sz="3200" dirty="0">
              <a:solidFill>
                <a:srgbClr val="00206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49C7FB-7F95-0C4B-8768-C21C258E5F70}"/>
              </a:ext>
            </a:extLst>
          </p:cNvPr>
          <p:cNvCxnSpPr/>
          <p:nvPr/>
        </p:nvCxnSpPr>
        <p:spPr>
          <a:xfrm>
            <a:off x="6466114" y="2993572"/>
            <a:ext cx="474617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459BF6-25A1-B030-E8FA-B0DAD4413437}"/>
              </a:ext>
            </a:extLst>
          </p:cNvPr>
          <p:cNvSpPr txBox="1"/>
          <p:nvPr/>
        </p:nvSpPr>
        <p:spPr>
          <a:xfrm>
            <a:off x="6466114" y="2993572"/>
            <a:ext cx="5214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ISTE730 - Foundations of IoT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3E6A3-7C4C-A03A-4A87-2B19374D1274}"/>
              </a:ext>
            </a:extLst>
          </p:cNvPr>
          <p:cNvSpPr txBox="1"/>
          <p:nvPr/>
        </p:nvSpPr>
        <p:spPr>
          <a:xfrm>
            <a:off x="8229602" y="4091638"/>
            <a:ext cx="373379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dirty="0">
                <a:solidFill>
                  <a:srgbClr val="002060"/>
                </a:solidFill>
              </a:rPr>
              <a:t>By,</a:t>
            </a:r>
          </a:p>
          <a:p>
            <a:pPr algn="r"/>
            <a:r>
              <a:rPr lang="en-US" sz="2800" b="1" dirty="0">
                <a:solidFill>
                  <a:srgbClr val="002060"/>
                </a:solidFill>
              </a:rPr>
              <a:t>Vetrivel Maheswaran</a:t>
            </a:r>
          </a:p>
          <a:p>
            <a:pPr algn="r"/>
            <a:r>
              <a:rPr lang="en-US" dirty="0">
                <a:solidFill>
                  <a:srgbClr val="002060"/>
                </a:solidFill>
              </a:rPr>
              <a:t>vm6923@rit.edu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9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69AF0-0886-5DE9-260E-C3B14DDF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F0ADE73-9E38-D852-8738-6C1787AD5A82}"/>
              </a:ext>
            </a:extLst>
          </p:cNvPr>
          <p:cNvSpPr txBox="1"/>
          <p:nvPr/>
        </p:nvSpPr>
        <p:spPr>
          <a:xfrm>
            <a:off x="598715" y="370506"/>
            <a:ext cx="7496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Problem, Motivation &amp; Goal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44EBAA6-C8D1-D382-23A7-28615BBC9878}"/>
              </a:ext>
            </a:extLst>
          </p:cNvPr>
          <p:cNvGrpSpPr/>
          <p:nvPr/>
        </p:nvGrpSpPr>
        <p:grpSpPr>
          <a:xfrm>
            <a:off x="1118451" y="1641976"/>
            <a:ext cx="10409520" cy="3150537"/>
            <a:chOff x="1118451" y="1535206"/>
            <a:chExt cx="10409520" cy="3150537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89E3DC6F-7E7A-C8B3-5FF2-664259E8C18C}"/>
                </a:ext>
              </a:extLst>
            </p:cNvPr>
            <p:cNvGrpSpPr/>
            <p:nvPr/>
          </p:nvGrpSpPr>
          <p:grpSpPr>
            <a:xfrm>
              <a:off x="1118452" y="2174412"/>
              <a:ext cx="3137862" cy="2509175"/>
              <a:chOff x="1118452" y="2174412"/>
              <a:chExt cx="3137862" cy="2509175"/>
            </a:xfrm>
          </p:grpSpPr>
          <p:sp>
            <p:nvSpPr>
              <p:cNvPr id="35" name="Flowchart: Off-page Connector 34">
                <a:extLst>
                  <a:ext uri="{FF2B5EF4-FFF2-40B4-BE49-F238E27FC236}">
                    <a16:creationId xmlns:a16="http://schemas.microsoft.com/office/drawing/2014/main" id="{57CDD9D2-4211-F58F-24A9-B973D2BD1CDF}"/>
                  </a:ext>
                </a:extLst>
              </p:cNvPr>
              <p:cNvSpPr/>
              <p:nvPr/>
            </p:nvSpPr>
            <p:spPr>
              <a:xfrm>
                <a:off x="1118452" y="2174412"/>
                <a:ext cx="3137862" cy="2509175"/>
              </a:xfrm>
              <a:prstGeom prst="flowChartOffpageConnector">
                <a:avLst/>
              </a:prstGeom>
              <a:solidFill>
                <a:schemeClr val="accent5">
                  <a:lumMod val="60000"/>
                  <a:lumOff val="40000"/>
                  <a:alpha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774DAD6-A092-C740-ABD3-3DB1A3851A1F}"/>
                  </a:ext>
                </a:extLst>
              </p:cNvPr>
              <p:cNvSpPr txBox="1"/>
              <p:nvPr/>
            </p:nvSpPr>
            <p:spPr>
              <a:xfrm>
                <a:off x="1199587" y="2411180"/>
                <a:ext cx="2975592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Traditional access systems only authenticate users and lack </a:t>
                </a:r>
                <a:r>
                  <a:rPr lang="en-US" b="1" dirty="0"/>
                  <a:t>logging</a:t>
                </a:r>
                <a:r>
                  <a:rPr lang="en-US" dirty="0"/>
                  <a:t>, </a:t>
                </a:r>
                <a:r>
                  <a:rPr lang="en-US" b="1" dirty="0"/>
                  <a:t>monitoring</a:t>
                </a:r>
                <a:r>
                  <a:rPr lang="en-US" dirty="0"/>
                  <a:t>, and </a:t>
                </a:r>
                <a:r>
                  <a:rPr lang="en-US" b="1" dirty="0"/>
                  <a:t>behavioral analysis </a:t>
                </a:r>
                <a:r>
                  <a:rPr lang="en-US" dirty="0"/>
                  <a:t>for detecting </a:t>
                </a:r>
                <a:r>
                  <a:rPr lang="en-US" b="1" dirty="0"/>
                  <a:t>suspicious access patterns</a:t>
                </a:r>
                <a:r>
                  <a:rPr lang="en-US" dirty="0"/>
                  <a:t>.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EE122C6-8F33-0244-6F6D-4803E17AD7E2}"/>
                </a:ext>
              </a:extLst>
            </p:cNvPr>
            <p:cNvGrpSpPr/>
            <p:nvPr/>
          </p:nvGrpSpPr>
          <p:grpSpPr>
            <a:xfrm>
              <a:off x="4754280" y="2174412"/>
              <a:ext cx="3137862" cy="2509175"/>
              <a:chOff x="4664938" y="2174412"/>
              <a:chExt cx="3137862" cy="2509175"/>
            </a:xfrm>
          </p:grpSpPr>
          <p:sp>
            <p:nvSpPr>
              <p:cNvPr id="48" name="Flowchart: Off-page Connector 47">
                <a:extLst>
                  <a:ext uri="{FF2B5EF4-FFF2-40B4-BE49-F238E27FC236}">
                    <a16:creationId xmlns:a16="http://schemas.microsoft.com/office/drawing/2014/main" id="{F51F8D09-C408-394E-25F8-E5D83B3F51F2}"/>
                  </a:ext>
                </a:extLst>
              </p:cNvPr>
              <p:cNvSpPr/>
              <p:nvPr/>
            </p:nvSpPr>
            <p:spPr>
              <a:xfrm>
                <a:off x="4664938" y="2174412"/>
                <a:ext cx="3137862" cy="2509175"/>
              </a:xfrm>
              <a:prstGeom prst="flowChartOffpageConnector">
                <a:avLst/>
              </a:prstGeom>
              <a:solidFill>
                <a:schemeClr val="accent4">
                  <a:lumMod val="60000"/>
                  <a:lumOff val="40000"/>
                  <a:alpha val="40000"/>
                </a:schemeClr>
              </a:solidFill>
              <a:ln>
                <a:noFill/>
              </a:ln>
              <a:effectLst>
                <a:outerShdw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395F35A-A7A8-7114-1620-C809526B7D08}"/>
                  </a:ext>
                </a:extLst>
              </p:cNvPr>
              <p:cNvSpPr txBox="1"/>
              <p:nvPr/>
            </p:nvSpPr>
            <p:spPr>
              <a:xfrm>
                <a:off x="4746073" y="2411180"/>
                <a:ext cx="2975592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Need a low-cost system combining </a:t>
                </a:r>
                <a:r>
                  <a:rPr lang="en-US" b="1" dirty="0"/>
                  <a:t>access control </a:t>
                </a:r>
                <a:r>
                  <a:rPr lang="en-US" dirty="0"/>
                  <a:t>with </a:t>
                </a:r>
                <a:r>
                  <a:rPr lang="en-US" b="1" dirty="0"/>
                  <a:t>real-time monitoring </a:t>
                </a:r>
                <a:r>
                  <a:rPr lang="en-US" dirty="0"/>
                  <a:t>and </a:t>
                </a:r>
                <a:r>
                  <a:rPr lang="en-US" b="1" dirty="0"/>
                  <a:t>basic intelligence </a:t>
                </a:r>
                <a:r>
                  <a:rPr lang="en-US" dirty="0"/>
                  <a:t>for improved security and visibility.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62" name="Flowchart: Off-page Connector 61">
              <a:extLst>
                <a:ext uri="{FF2B5EF4-FFF2-40B4-BE49-F238E27FC236}">
                  <a16:creationId xmlns:a16="http://schemas.microsoft.com/office/drawing/2014/main" id="{C1D547BC-4CD7-92B6-A7DC-84DD8D7348DE}"/>
                </a:ext>
              </a:extLst>
            </p:cNvPr>
            <p:cNvSpPr/>
            <p:nvPr/>
          </p:nvSpPr>
          <p:spPr>
            <a:xfrm>
              <a:off x="8390109" y="2176568"/>
              <a:ext cx="3137862" cy="2509175"/>
            </a:xfrm>
            <a:prstGeom prst="flowChartOffpageConnector">
              <a:avLst/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44250B6-3B4C-3182-A980-4B8E660FF53D}"/>
                </a:ext>
              </a:extLst>
            </p:cNvPr>
            <p:cNvSpPr txBox="1"/>
            <p:nvPr/>
          </p:nvSpPr>
          <p:spPr>
            <a:xfrm>
              <a:off x="8471244" y="2413336"/>
              <a:ext cx="2975592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Develop an </a:t>
              </a:r>
              <a:r>
                <a:rPr lang="en-US" b="1" dirty="0"/>
                <a:t>IoT</a:t>
              </a:r>
              <a:r>
                <a:rPr lang="en-US" dirty="0"/>
                <a:t>-based system for RFID authentication, real-time logging, dashboard monitoring, and simple </a:t>
              </a:r>
              <a:r>
                <a:rPr lang="en-US" b="1" dirty="0"/>
                <a:t>anomaly detection</a:t>
              </a:r>
              <a:r>
                <a:rPr lang="en-US" dirty="0"/>
                <a:t>.</a:t>
              </a:r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7" name="Rectangle: Top Corners Rounded 86">
              <a:extLst>
                <a:ext uri="{FF2B5EF4-FFF2-40B4-BE49-F238E27FC236}">
                  <a16:creationId xmlns:a16="http://schemas.microsoft.com/office/drawing/2014/main" id="{932E2E43-0547-38E5-E197-1922C8E281F6}"/>
                </a:ext>
              </a:extLst>
            </p:cNvPr>
            <p:cNvSpPr/>
            <p:nvPr/>
          </p:nvSpPr>
          <p:spPr>
            <a:xfrm>
              <a:off x="1118451" y="1535206"/>
              <a:ext cx="3137862" cy="584776"/>
            </a:xfrm>
            <a:prstGeom prst="round2SameRect">
              <a:avLst/>
            </a:prstGeom>
            <a:solidFill>
              <a:schemeClr val="accent5">
                <a:lumMod val="60000"/>
                <a:lumOff val="40000"/>
                <a:alpha val="40000"/>
              </a:schemeClr>
            </a:solidFill>
            <a:ln w="28575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4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Problem</a:t>
              </a:r>
            </a:p>
          </p:txBody>
        </p:sp>
        <p:sp>
          <p:nvSpPr>
            <p:cNvPr id="88" name="Rectangle: Top Corners Rounded 87">
              <a:extLst>
                <a:ext uri="{FF2B5EF4-FFF2-40B4-BE49-F238E27FC236}">
                  <a16:creationId xmlns:a16="http://schemas.microsoft.com/office/drawing/2014/main" id="{E22C35E1-8CCD-BC96-04BB-569BA0F0F376}"/>
                </a:ext>
              </a:extLst>
            </p:cNvPr>
            <p:cNvSpPr/>
            <p:nvPr/>
          </p:nvSpPr>
          <p:spPr>
            <a:xfrm>
              <a:off x="4754280" y="1535206"/>
              <a:ext cx="3137862" cy="584776"/>
            </a:xfrm>
            <a:prstGeom prst="round2SameRect">
              <a:avLst/>
            </a:prstGeom>
            <a:solidFill>
              <a:schemeClr val="accent4">
                <a:lumMod val="75000"/>
                <a:alpha val="30000"/>
              </a:schemeClr>
            </a:solidFill>
            <a:ln w="28575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4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Motivation</a:t>
              </a:r>
            </a:p>
          </p:txBody>
        </p:sp>
        <p:sp>
          <p:nvSpPr>
            <p:cNvPr id="89" name="Rectangle: Top Corners Rounded 88">
              <a:extLst>
                <a:ext uri="{FF2B5EF4-FFF2-40B4-BE49-F238E27FC236}">
                  <a16:creationId xmlns:a16="http://schemas.microsoft.com/office/drawing/2014/main" id="{6A032E15-76BC-C2F9-6C99-3E4BBA45C5D0}"/>
                </a:ext>
              </a:extLst>
            </p:cNvPr>
            <p:cNvSpPr/>
            <p:nvPr/>
          </p:nvSpPr>
          <p:spPr>
            <a:xfrm>
              <a:off x="8390109" y="1535206"/>
              <a:ext cx="3137862" cy="584776"/>
            </a:xfrm>
            <a:prstGeom prst="round2SameRect">
              <a:avLst/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 w="28575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4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Goal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327509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3117F-C80E-8AA1-DF2E-0EF6D1EF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C8ECFC-8208-B18A-B6BB-E9ED4F9600CB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System Architecture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0293D-F1D2-5465-169C-9FB14F4D7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463" y="1151890"/>
            <a:ext cx="8637069" cy="158465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DAD4A-FFAD-E302-A736-A140EA725A1B}"/>
              </a:ext>
            </a:extLst>
          </p:cNvPr>
          <p:cNvGrpSpPr/>
          <p:nvPr/>
        </p:nvGrpSpPr>
        <p:grpSpPr>
          <a:xfrm>
            <a:off x="670888" y="2736542"/>
            <a:ext cx="9503014" cy="2568717"/>
            <a:chOff x="1648206" y="3021796"/>
            <a:chExt cx="9503014" cy="256871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D779D1-2B52-0F92-22F7-B71C05A7FD81}"/>
                </a:ext>
              </a:extLst>
            </p:cNvPr>
            <p:cNvSpPr txBox="1"/>
            <p:nvPr/>
          </p:nvSpPr>
          <p:spPr>
            <a:xfrm>
              <a:off x="1915685" y="3021796"/>
              <a:ext cx="9235535" cy="256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RFID Card → Arduino → Serial → Backend → Database → Dashboard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Arduino (edge): authentication + gate control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Backend: logging + analysis + visualization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Real-time data pipeline using serial communication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Fully local system (no cloud dependency) 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A375F625-EABF-998B-3ED9-6C4A29DB5E44}"/>
                </a:ext>
              </a:extLst>
            </p:cNvPr>
            <p:cNvSpPr/>
            <p:nvPr/>
          </p:nvSpPr>
          <p:spPr>
            <a:xfrm>
              <a:off x="1652761" y="3253154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16099D7E-ABF2-BBA7-48B9-854EEFB4B99B}"/>
                </a:ext>
              </a:extLst>
            </p:cNvPr>
            <p:cNvSpPr/>
            <p:nvPr/>
          </p:nvSpPr>
          <p:spPr>
            <a:xfrm>
              <a:off x="1652761" y="3780204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C92CA7D6-1E8E-8388-4B98-B530FA9AB25B}"/>
                </a:ext>
              </a:extLst>
            </p:cNvPr>
            <p:cNvSpPr/>
            <p:nvPr/>
          </p:nvSpPr>
          <p:spPr>
            <a:xfrm>
              <a:off x="1652761" y="4259629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21EE53BA-D98A-1E33-4F77-DCF745E99D5C}"/>
                </a:ext>
              </a:extLst>
            </p:cNvPr>
            <p:cNvSpPr/>
            <p:nvPr/>
          </p:nvSpPr>
          <p:spPr>
            <a:xfrm>
              <a:off x="1652761" y="4749225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F9BC7547-276E-D937-D4E2-8614FE49F092}"/>
                </a:ext>
              </a:extLst>
            </p:cNvPr>
            <p:cNvSpPr/>
            <p:nvPr/>
          </p:nvSpPr>
          <p:spPr>
            <a:xfrm>
              <a:off x="1648206" y="5238821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1787254C-E7C9-0859-2592-F5380F973B99}"/>
              </a:ext>
            </a:extLst>
          </p:cNvPr>
          <p:cNvSpPr/>
          <p:nvPr/>
        </p:nvSpPr>
        <p:spPr>
          <a:xfrm>
            <a:off x="7218948" y="4953567"/>
            <a:ext cx="4655419" cy="1447232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E87BC-39A0-387F-5297-80702FC428A1}"/>
              </a:ext>
            </a:extLst>
          </p:cNvPr>
          <p:cNvSpPr txBox="1"/>
          <p:nvPr/>
        </p:nvSpPr>
        <p:spPr>
          <a:xfrm>
            <a:off x="7218948" y="5167501"/>
            <a:ext cx="48717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2060"/>
                </a:solidFill>
              </a:rPr>
              <a:t>Auto-refresh every 5 seconds (polling)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2060"/>
                </a:solidFill>
              </a:rPr>
              <a:t>SQLite with </a:t>
            </a:r>
            <a:r>
              <a:rPr lang="en-US" sz="1600" b="1" dirty="0" err="1">
                <a:solidFill>
                  <a:srgbClr val="002060"/>
                </a:solidFill>
              </a:rPr>
              <a:t>SQLAlchemy</a:t>
            </a:r>
            <a:r>
              <a:rPr lang="en-US" sz="1600" b="1" dirty="0">
                <a:solidFill>
                  <a:srgbClr val="002060"/>
                </a:solidFill>
              </a:rPr>
              <a:t> ORM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2060"/>
                </a:solidFill>
              </a:rPr>
              <a:t>Serial reader runs INDEPENDENT of API layer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2060"/>
                </a:solidFill>
              </a:rPr>
              <a:t>No HTTP call between serial and database</a:t>
            </a:r>
          </a:p>
        </p:txBody>
      </p:sp>
    </p:spTree>
    <p:extLst>
      <p:ext uri="{BB962C8B-B14F-4D97-AF65-F5344CB8AC3E}">
        <p14:creationId xmlns:p14="http://schemas.microsoft.com/office/powerpoint/2010/main" val="4725100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crush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50DF94-E7EA-2A7B-201E-1F30DB0A7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860" y="1476573"/>
            <a:ext cx="4796443" cy="341651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7C9E55-7BF4-4D58-3582-9D237FD60D25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Hardware &amp; Design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0A478-84CF-B487-E76E-D985FBC3D1B4}"/>
              </a:ext>
            </a:extLst>
          </p:cNvPr>
          <p:cNvSpPr txBox="1"/>
          <p:nvPr/>
        </p:nvSpPr>
        <p:spPr>
          <a:xfrm>
            <a:off x="680988" y="1408837"/>
            <a:ext cx="5610872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Arduino UNO, RC522, Servo, LEDs, LCD     RFID via SPI (UID-based authentication)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Servo controls gate (open/close)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 + buzzer + LCD for feedback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IN/OUT state tracking per user </a:t>
            </a:r>
          </a:p>
        </p:txBody>
      </p:sp>
    </p:spTree>
    <p:extLst>
      <p:ext uri="{BB962C8B-B14F-4D97-AF65-F5344CB8AC3E}">
        <p14:creationId xmlns:p14="http://schemas.microsoft.com/office/powerpoint/2010/main" val="40594265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airplane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EC568-89F0-BBBB-5A3D-E95356BA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CC151B-7B92-64CB-7DBD-2185D6EC9EDA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Backend &amp; Dashboard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4D5D80-78EF-EC4A-DB1B-EBBAFA1C8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620" y="2977376"/>
            <a:ext cx="6115471" cy="3329115"/>
          </a:xfrm>
          <a:prstGeom prst="rect">
            <a:avLst/>
          </a:prstGeom>
          <a:effectLst>
            <a:glow>
              <a:srgbClr val="002060">
                <a:alpha val="40000"/>
              </a:srgbClr>
            </a:glow>
            <a:softEdge rad="0"/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7DC21CF-0760-F528-1C11-E4CFAF9F960E}"/>
              </a:ext>
            </a:extLst>
          </p:cNvPr>
          <p:cNvGrpSpPr/>
          <p:nvPr/>
        </p:nvGrpSpPr>
        <p:grpSpPr>
          <a:xfrm>
            <a:off x="772650" y="1158939"/>
            <a:ext cx="7399198" cy="4455835"/>
            <a:chOff x="560893" y="1158939"/>
            <a:chExt cx="7494462" cy="44558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6B519C-0618-D32A-8E3A-1CFF623365C2}"/>
                </a:ext>
              </a:extLst>
            </p:cNvPr>
            <p:cNvSpPr txBox="1"/>
            <p:nvPr/>
          </p:nvSpPr>
          <p:spPr>
            <a:xfrm>
              <a:off x="838200" y="1158939"/>
              <a:ext cx="7217155" cy="44558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Backend: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en-US" sz="2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FastAPI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+ SQLite + </a:t>
              </a:r>
              <a:r>
                <a:rPr kumimoji="0" lang="en-US" altLang="en-US" sz="2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PySerial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Data flow: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Serial → Service → Database → API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Clean architecture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(Config, Repository, Service, API)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Dashboard features: </a:t>
              </a:r>
            </a:p>
            <a:p>
              <a:pPr marL="342900" marR="0" lvl="0" indent="-3429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Real-time logs </a:t>
              </a:r>
            </a:p>
            <a:p>
              <a:pPr marL="342900" marR="0" lvl="0" indent="-3429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User presence (IN/OUT) </a:t>
              </a:r>
            </a:p>
            <a:p>
              <a:pPr marL="342900" marR="0" lvl="0" indent="-3429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Filtering + statistics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1814E84-D3D3-9731-A3D5-CBF9A0C00085}"/>
                </a:ext>
              </a:extLst>
            </p:cNvPr>
            <p:cNvSpPr/>
            <p:nvPr/>
          </p:nvSpPr>
          <p:spPr>
            <a:xfrm>
              <a:off x="571891" y="1429247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356833D-DE49-78F1-F17B-5546046D8C69}"/>
                </a:ext>
              </a:extLst>
            </p:cNvPr>
            <p:cNvSpPr/>
            <p:nvPr/>
          </p:nvSpPr>
          <p:spPr>
            <a:xfrm>
              <a:off x="560893" y="1994211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7599765-F0EC-097C-E597-B7CF15E515E1}"/>
                </a:ext>
              </a:extLst>
            </p:cNvPr>
            <p:cNvSpPr/>
            <p:nvPr/>
          </p:nvSpPr>
          <p:spPr>
            <a:xfrm>
              <a:off x="571891" y="2520912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EFF0D127-BF7B-D73D-B74C-DBABD51ABE42}"/>
                </a:ext>
              </a:extLst>
            </p:cNvPr>
            <p:cNvSpPr/>
            <p:nvPr/>
          </p:nvSpPr>
          <p:spPr>
            <a:xfrm>
              <a:off x="560893" y="3612577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D416E5-1D05-873E-1BFA-81E690F5CDFD}"/>
              </a:ext>
            </a:extLst>
          </p:cNvPr>
          <p:cNvGrpSpPr/>
          <p:nvPr/>
        </p:nvGrpSpPr>
        <p:grpSpPr>
          <a:xfrm>
            <a:off x="8425740" y="724449"/>
            <a:ext cx="3309459" cy="2085589"/>
            <a:chOff x="866274" y="5085717"/>
            <a:chExt cx="4655419" cy="1447232"/>
          </a:xfrm>
        </p:grpSpPr>
        <p:sp>
          <p:nvSpPr>
            <p:cNvPr id="16" name="Rectangle: Diagonal Corners Rounded 15">
              <a:extLst>
                <a:ext uri="{FF2B5EF4-FFF2-40B4-BE49-F238E27FC236}">
                  <a16:creationId xmlns:a16="http://schemas.microsoft.com/office/drawing/2014/main" id="{2BE3A8A9-EBB8-37DE-A763-17FE6D79BBA4}"/>
                </a:ext>
              </a:extLst>
            </p:cNvPr>
            <p:cNvSpPr/>
            <p:nvPr/>
          </p:nvSpPr>
          <p:spPr>
            <a:xfrm>
              <a:off x="866274" y="5085717"/>
              <a:ext cx="4655419" cy="1447232"/>
            </a:xfrm>
            <a:prstGeom prst="round2Diag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dirty="0">
                <a:solidFill>
                  <a:srgbClr val="00206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DD8BC6-2639-4B44-0C9B-7B54C14CB282}"/>
                </a:ext>
              </a:extLst>
            </p:cNvPr>
            <p:cNvSpPr txBox="1"/>
            <p:nvPr/>
          </p:nvSpPr>
          <p:spPr>
            <a:xfrm>
              <a:off x="989213" y="5166341"/>
              <a:ext cx="4317196" cy="13020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002060"/>
                  </a:solidFill>
                </a:rPr>
                <a:t>→ Serial never calls API routes — clean separation</a:t>
              </a:r>
            </a:p>
            <a:p>
              <a:r>
                <a:rPr lang="en-US" sz="1400" b="1" dirty="0">
                  <a:solidFill>
                    <a:srgbClr val="002060"/>
                  </a:solidFill>
                </a:rPr>
                <a:t>→ 5 API endpoints + 2 analytical endpoints</a:t>
              </a:r>
            </a:p>
            <a:p>
              <a:r>
                <a:rPr lang="en-US" sz="1400" b="1" dirty="0">
                  <a:solidFill>
                    <a:srgbClr val="002060"/>
                  </a:solidFill>
                </a:rPr>
                <a:t>→ Dashboard = pure static HTML/JS</a:t>
              </a:r>
            </a:p>
            <a:p>
              <a:r>
                <a:rPr lang="en-US" sz="1400" b="1" dirty="0">
                  <a:solidFill>
                    <a:srgbClr val="002060"/>
                  </a:solidFill>
                </a:rPr>
                <a:t>→ Per-user behavioral page with hourly bar chart + stay durations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8153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 isContent="1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5EE15-A554-B808-B300-E6838BC4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3CA63-CC7C-53B2-CCB1-AAE55F4F6E9E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Anomaly Detection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DACCD-BF63-8EF0-E70B-B48BFBD43564}"/>
              </a:ext>
            </a:extLst>
          </p:cNvPr>
          <p:cNvSpPr txBox="1"/>
          <p:nvPr/>
        </p:nvSpPr>
        <p:spPr>
          <a:xfrm>
            <a:off x="1693246" y="1165636"/>
            <a:ext cx="3496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Rule-Based Detection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722FBA-A6B8-ED8C-4846-060327004575}"/>
              </a:ext>
            </a:extLst>
          </p:cNvPr>
          <p:cNvCxnSpPr/>
          <p:nvPr/>
        </p:nvCxnSpPr>
        <p:spPr>
          <a:xfrm>
            <a:off x="1693246" y="1608051"/>
            <a:ext cx="3262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358705-5849-B6C7-E92C-74FEDE7BAE63}"/>
              </a:ext>
            </a:extLst>
          </p:cNvPr>
          <p:cNvSpPr txBox="1"/>
          <p:nvPr/>
        </p:nvSpPr>
        <p:spPr>
          <a:xfrm>
            <a:off x="7235790" y="1184886"/>
            <a:ext cx="3496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Machine Learning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EB18FE-66C3-5D9F-D282-7178B473DB99}"/>
              </a:ext>
            </a:extLst>
          </p:cNvPr>
          <p:cNvCxnSpPr/>
          <p:nvPr/>
        </p:nvCxnSpPr>
        <p:spPr>
          <a:xfrm>
            <a:off x="7235790" y="1627301"/>
            <a:ext cx="3262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F47B1F-C22E-057C-1303-26A25D083C37}"/>
              </a:ext>
            </a:extLst>
          </p:cNvPr>
          <p:cNvSpPr txBox="1"/>
          <p:nvPr/>
        </p:nvSpPr>
        <p:spPr>
          <a:xfrm>
            <a:off x="1251848" y="1677696"/>
            <a:ext cx="48441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Off-hours </a:t>
            </a:r>
          </a:p>
          <a:p>
            <a:r>
              <a:rPr lang="en-US" sz="2000" dirty="0"/>
              <a:t>    → configurable window (10AM–3PM)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Sliding window algorithm</a:t>
            </a:r>
          </a:p>
          <a:p>
            <a:r>
              <a:rPr lang="en-US" sz="2000" dirty="0"/>
              <a:t>     → 5 scans / 60 seconds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Streak detection</a:t>
            </a:r>
          </a:p>
          <a:p>
            <a:r>
              <a:rPr lang="en-US" sz="2000" dirty="0"/>
              <a:t>     → last 3 DB records per UID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05D00B-F946-B278-B682-C5DAD6265C10}"/>
              </a:ext>
            </a:extLst>
          </p:cNvPr>
          <p:cNvSpPr txBox="1"/>
          <p:nvPr/>
        </p:nvSpPr>
        <p:spPr>
          <a:xfrm>
            <a:off x="6847630" y="1830051"/>
            <a:ext cx="46228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Isolation Forest model </a:t>
            </a:r>
          </a:p>
          <a:p>
            <a:r>
              <a:rPr lang="en-US" sz="2000" dirty="0"/>
              <a:t>     (Unsupervised Model)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Feature: time of access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Detects unusual behavior patterns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B8E6A0-C1C2-6773-4159-52D8C0B2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706" y="3252118"/>
            <a:ext cx="3519713" cy="2227931"/>
          </a:xfrm>
          <a:prstGeom prst="rect">
            <a:avLst/>
          </a:prstGeom>
        </p:spPr>
      </p:pic>
      <p:sp>
        <p:nvSpPr>
          <p:cNvPr id="20" name="TextBox 19">
            <a:hlinkClick r:id="rId3"/>
            <a:extLst>
              <a:ext uri="{FF2B5EF4-FFF2-40B4-BE49-F238E27FC236}">
                <a16:creationId xmlns:a16="http://schemas.microsoft.com/office/drawing/2014/main" id="{CAFA4F67-959E-C136-92C3-77E5F2DC93CD}"/>
              </a:ext>
            </a:extLst>
          </p:cNvPr>
          <p:cNvSpPr txBox="1"/>
          <p:nvPr/>
        </p:nvSpPr>
        <p:spPr>
          <a:xfrm>
            <a:off x="7308706" y="5673114"/>
            <a:ext cx="36640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050" b="1" dirty="0" err="1">
                <a:effectLst/>
              </a:rPr>
              <a:t>iTRAC</a:t>
            </a:r>
            <a:r>
              <a:rPr lang="en-US" sz="1050" b="1" dirty="0">
                <a:effectLst/>
              </a:rPr>
              <a:t>: Intelligent Tracking and Real-Time Analysis on Cloud Using RFID and MQTT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9E505C-7A60-4E33-3B1F-698972A1A157}"/>
              </a:ext>
            </a:extLst>
          </p:cNvPr>
          <p:cNvSpPr txBox="1"/>
          <p:nvPr/>
        </p:nvSpPr>
        <p:spPr>
          <a:xfrm>
            <a:off x="7420505" y="5480050"/>
            <a:ext cx="3519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/>
              <a:t>Fig. 1. Anomaly detection using isolation forest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09173E-34A3-6F42-79F6-2C468F1D3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949" y="3557492"/>
            <a:ext cx="3053082" cy="268919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8D7E43-9829-9FDF-1FCD-F1E1FD1FBA23}"/>
              </a:ext>
            </a:extLst>
          </p:cNvPr>
          <p:cNvCxnSpPr>
            <a:cxnSpLocks/>
          </p:cNvCxnSpPr>
          <p:nvPr/>
        </p:nvCxnSpPr>
        <p:spPr>
          <a:xfrm>
            <a:off x="5936383" y="1331211"/>
            <a:ext cx="0" cy="467495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616FDF5-444C-2E4D-970C-203669F076A0}"/>
              </a:ext>
            </a:extLst>
          </p:cNvPr>
          <p:cNvSpPr txBox="1"/>
          <p:nvPr/>
        </p:nvSpPr>
        <p:spPr>
          <a:xfrm>
            <a:off x="2987844" y="6246691"/>
            <a:ext cx="5973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Hybrid approach = simple + intelligent detection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0C8A1A7-5D31-3C95-8460-3B93C66DB870}"/>
              </a:ext>
            </a:extLst>
          </p:cNvPr>
          <p:cNvSpPr/>
          <p:nvPr/>
        </p:nvSpPr>
        <p:spPr>
          <a:xfrm>
            <a:off x="2777536" y="6208911"/>
            <a:ext cx="6363217" cy="466382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46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79090-7412-A85F-E1A0-47E7ED2F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1BB2B3-7EAA-9C3D-9E93-1EE575AE39DC}"/>
              </a:ext>
            </a:extLst>
          </p:cNvPr>
          <p:cNvSpPr txBox="1"/>
          <p:nvPr/>
        </p:nvSpPr>
        <p:spPr>
          <a:xfrm>
            <a:off x="598715" y="370506"/>
            <a:ext cx="8577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Results, Challenge &amp; Future Work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BF847E-FCEB-1951-1DE5-2152F4634361}"/>
              </a:ext>
            </a:extLst>
          </p:cNvPr>
          <p:cNvGrpSpPr/>
          <p:nvPr/>
        </p:nvGrpSpPr>
        <p:grpSpPr>
          <a:xfrm>
            <a:off x="1665512" y="1405394"/>
            <a:ext cx="7424058" cy="1436914"/>
            <a:chOff x="1665513" y="1274335"/>
            <a:chExt cx="7446974" cy="143691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BEB4AB4-94DB-1EE7-79FF-6D5B76163BF8}"/>
                </a:ext>
              </a:extLst>
            </p:cNvPr>
            <p:cNvSpPr/>
            <p:nvPr/>
          </p:nvSpPr>
          <p:spPr>
            <a:xfrm>
              <a:off x="1665514" y="1274336"/>
              <a:ext cx="7446973" cy="1436913"/>
            </a:xfrm>
            <a:prstGeom prst="roundRect">
              <a:avLst/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9739F90-48B8-A59B-CD36-0E3D30AD7E8E}"/>
                </a:ext>
              </a:extLst>
            </p:cNvPr>
            <p:cNvSpPr/>
            <p:nvPr/>
          </p:nvSpPr>
          <p:spPr>
            <a:xfrm>
              <a:off x="1665513" y="1274335"/>
              <a:ext cx="2677885" cy="1436913"/>
            </a:xfrm>
            <a:prstGeom prst="roundRect">
              <a:avLst/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A456D6-7566-7122-297E-DC86C821F764}"/>
                </a:ext>
              </a:extLst>
            </p:cNvPr>
            <p:cNvSpPr txBox="1"/>
            <p:nvPr/>
          </p:nvSpPr>
          <p:spPr>
            <a:xfrm>
              <a:off x="2209800" y="1700403"/>
              <a:ext cx="181791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002060"/>
                  </a:solidFill>
                  <a:effectLst/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Results</a:t>
              </a:r>
              <a:endParaRPr lang="en-US" sz="3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0BD45A-7C17-0863-3A19-905AD57B8EF8}"/>
                </a:ext>
              </a:extLst>
            </p:cNvPr>
            <p:cNvSpPr txBox="1"/>
            <p:nvPr/>
          </p:nvSpPr>
          <p:spPr>
            <a:xfrm>
              <a:off x="4343398" y="1504459"/>
              <a:ext cx="470262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Real-time system (~1–2 sec delay)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Accurate logging and monitoring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Anomalies detected successfully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CDF9CE1-4B43-24F2-4FA1-17FF6E582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03" r="21886"/>
            <a:stretch>
              <a:fillRect/>
            </a:stretch>
          </p:blipFill>
          <p:spPr>
            <a:xfrm>
              <a:off x="1828799" y="1755183"/>
              <a:ext cx="455870" cy="48762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2F819B-60E3-A801-C4A8-98715D962C20}"/>
              </a:ext>
            </a:extLst>
          </p:cNvPr>
          <p:cNvGrpSpPr/>
          <p:nvPr/>
        </p:nvGrpSpPr>
        <p:grpSpPr>
          <a:xfrm>
            <a:off x="1654625" y="3052935"/>
            <a:ext cx="7606520" cy="1436914"/>
            <a:chOff x="1665513" y="1274335"/>
            <a:chExt cx="7239001" cy="1436914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23E08F5-F955-2805-3649-A99755555208}"/>
                </a:ext>
              </a:extLst>
            </p:cNvPr>
            <p:cNvSpPr/>
            <p:nvPr/>
          </p:nvSpPr>
          <p:spPr>
            <a:xfrm>
              <a:off x="1665514" y="1274336"/>
              <a:ext cx="7075715" cy="1436913"/>
            </a:xfrm>
            <a:prstGeom prst="round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C00E642-CCA5-CCC4-1C07-12C0BB37F13E}"/>
                </a:ext>
              </a:extLst>
            </p:cNvPr>
            <p:cNvSpPr/>
            <p:nvPr/>
          </p:nvSpPr>
          <p:spPr>
            <a:xfrm>
              <a:off x="1665513" y="1274335"/>
              <a:ext cx="2551020" cy="1436913"/>
            </a:xfrm>
            <a:prstGeom prst="round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8EA00D-C871-2B43-983E-A9B1B5A4E185}"/>
                </a:ext>
              </a:extLst>
            </p:cNvPr>
            <p:cNvSpPr txBox="1"/>
            <p:nvPr/>
          </p:nvSpPr>
          <p:spPr>
            <a:xfrm>
              <a:off x="2209799" y="1700403"/>
              <a:ext cx="21444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02060"/>
                  </a:solidFill>
                  <a:effectLst/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Challenges</a:t>
              </a:r>
              <a:endParaRPr lang="en-US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0269C2-658F-2BBD-F952-F15100D71C3A}"/>
                </a:ext>
              </a:extLst>
            </p:cNvPr>
            <p:cNvSpPr txBox="1"/>
            <p:nvPr/>
          </p:nvSpPr>
          <p:spPr>
            <a:xfrm>
              <a:off x="4201886" y="1484959"/>
              <a:ext cx="470262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2000" dirty="0"/>
                <a:t>RC522 instability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2000" dirty="0"/>
                <a:t>Serial port conflicts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2000" dirty="0"/>
                <a:t>Power limitations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5F1F43-BAAC-DB4C-8E1A-55A22CF2B01F}"/>
              </a:ext>
            </a:extLst>
          </p:cNvPr>
          <p:cNvGrpSpPr/>
          <p:nvPr/>
        </p:nvGrpSpPr>
        <p:grpSpPr>
          <a:xfrm>
            <a:off x="1654625" y="4730272"/>
            <a:ext cx="7606520" cy="1436914"/>
            <a:chOff x="1665513" y="1274335"/>
            <a:chExt cx="7239001" cy="143691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8AEDC8E-F9DB-1BCC-5211-6494895E4B64}"/>
                </a:ext>
              </a:extLst>
            </p:cNvPr>
            <p:cNvSpPr/>
            <p:nvPr/>
          </p:nvSpPr>
          <p:spPr>
            <a:xfrm>
              <a:off x="1665514" y="1274336"/>
              <a:ext cx="7075715" cy="143691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8239F70-DB8F-CF77-69D4-E2D37FB785A6}"/>
                </a:ext>
              </a:extLst>
            </p:cNvPr>
            <p:cNvSpPr/>
            <p:nvPr/>
          </p:nvSpPr>
          <p:spPr>
            <a:xfrm>
              <a:off x="1665513" y="1274335"/>
              <a:ext cx="2551020" cy="143691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51C000C-8969-CE6E-D0EE-C0DC76527722}"/>
                </a:ext>
              </a:extLst>
            </p:cNvPr>
            <p:cNvSpPr txBox="1"/>
            <p:nvPr/>
          </p:nvSpPr>
          <p:spPr>
            <a:xfrm>
              <a:off x="2209799" y="1700403"/>
              <a:ext cx="21444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02060"/>
                  </a:solidFill>
                  <a:effectLst/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Future Work</a:t>
              </a:r>
              <a:endParaRPr lang="en-US" sz="2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C8F972A-60B6-C4F8-3ED3-C1304DE9C791}"/>
                </a:ext>
              </a:extLst>
            </p:cNvPr>
            <p:cNvSpPr txBox="1"/>
            <p:nvPr/>
          </p:nvSpPr>
          <p:spPr>
            <a:xfrm>
              <a:off x="4201886" y="1484959"/>
              <a:ext cx="470262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/>
                <a:t>Replace Arduino with ESP32 (</a:t>
              </a:r>
              <a:r>
                <a:rPr lang="en-US" sz="2000" dirty="0" err="1"/>
                <a:t>WiFi</a:t>
              </a:r>
              <a:r>
                <a:rPr lang="en-US" sz="2000" dirty="0"/>
                <a:t>)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/>
                <a:t>Dynamic user management (DB-based)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/>
                <a:t>Improve ML features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63236E7-C00C-2B06-85FD-5CAD6F77F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201" y="3528563"/>
            <a:ext cx="424099" cy="424099"/>
          </a:xfrm>
          <a:prstGeom prst="rect">
            <a:avLst/>
          </a:prstGeom>
        </p:spPr>
      </p:pic>
      <p:pic>
        <p:nvPicPr>
          <p:cNvPr id="3081" name="Picture 9" descr="➡️ Right Arrow Emoji: Meaning &amp; Usage">
            <a:extLst>
              <a:ext uri="{FF2B5EF4-FFF2-40B4-BE49-F238E27FC236}">
                <a16:creationId xmlns:a16="http://schemas.microsoft.com/office/drawing/2014/main" id="{04C4ABAC-4BD7-17DE-8FF9-2232B563B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279" y="5258939"/>
            <a:ext cx="318021" cy="31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4213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airplane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692D8-5DC9-0DF1-D532-4C13311C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4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991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>
        <p15:prstTrans prst="airplane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417</Words>
  <Application>Microsoft Office PowerPoint</Application>
  <PresentationFormat>Widescreen</PresentationFormat>
  <Paragraphs>71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Bierstadt</vt:lpstr>
      <vt:lpstr>Cambria</vt:lpstr>
      <vt:lpstr>Wingdings</vt:lpstr>
      <vt:lpstr>GestaltVTI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VETRIVEL MAHESWARAN</dc:creator>
  <cp:lastModifiedBy>VETRIVEL MAHESWARAN</cp:lastModifiedBy>
  <cp:revision>32</cp:revision>
  <dcterms:created xsi:type="dcterms:W3CDTF">2026-04-19T03:23:52Z</dcterms:created>
  <dcterms:modified xsi:type="dcterms:W3CDTF">2026-04-19T04:38:43Z</dcterms:modified>
</cp:coreProperties>
</file>